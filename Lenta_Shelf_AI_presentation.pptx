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6858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4400" b="1">
                <a:solidFill>
                  <a:srgbClr val="F5F8FF"/>
                </a:solidFill>
                <a:latin typeface="Arial"/>
              </a:rPr>
              <a:t>Lenta Shelf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9875520" cy="4572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800" b="0">
                <a:solidFill>
                  <a:srgbClr val="63E0FF"/>
                </a:solidFill>
                <a:latin typeface="Arial"/>
              </a:rPr>
              <a:t>Компьютерное зрение для автоматического распознавания ценников с видео робота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606040"/>
            <a:ext cx="4937760" cy="384048"/>
          </a:xfrm>
          <a:prstGeom prst="round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914"/>
                </a:solidFill>
                <a:latin typeface="Arial"/>
              </a:rPr>
              <a:t>детекция + QR + OCR + temporal fusion +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80760"/>
            <a:ext cx="77724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0">
                <a:solidFill>
                  <a:srgbClr val="AABBD2"/>
                </a:solidFill>
                <a:latin typeface="Arial"/>
              </a:rPr>
              <a:t>Команда: &lt;название команды&gt;  |  Lenta Tech Life Hack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5989320"/>
            <a:ext cx="960120" cy="310896"/>
          </a:xfrm>
          <a:prstGeom prst="roundRect">
            <a:avLst/>
          </a:prstGeom>
          <a:solidFill>
            <a:srgbClr val="50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914"/>
                </a:solidFill>
                <a:latin typeface="Arial"/>
              </a:rPr>
              <a:t>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989320"/>
            <a:ext cx="960120" cy="310896"/>
          </a:xfrm>
          <a:prstGeom prst="round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914"/>
                </a:solidFill>
                <a:latin typeface="Arial"/>
              </a:rPr>
              <a:t>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5989320"/>
            <a:ext cx="960120" cy="310896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0914"/>
                </a:solidFill>
                <a:latin typeface="Arial"/>
              </a:rPr>
              <a:t>RKNN-ready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Состав команды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Замените placeholders на реальные имена, роли и контакты перед отправкой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60020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73351"/>
            <a:ext cx="46634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rial"/>
              </a:rPr>
              <a:t>Участник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6634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63E0FF"/>
                </a:solidFill>
                <a:latin typeface="Arial"/>
              </a:rPr>
              <a:t>CV/ML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46634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ABBD2"/>
                </a:solidFill>
                <a:latin typeface="Arial"/>
              </a:rPr>
              <a:t>детектор, self-training,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9191"/>
            <a:ext cx="46634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Arial"/>
              </a:rPr>
              <a:t>tg/email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166360" cy="160020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1"/>
            <a:ext cx="46634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rial"/>
              </a:rPr>
              <a:t>Участник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46634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63E0FF"/>
                </a:solidFill>
                <a:latin typeface="Arial"/>
              </a:rPr>
              <a:t>OCR/NLP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59152"/>
            <a:ext cx="46634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ABBD2"/>
                </a:solidFill>
                <a:latin typeface="Arial"/>
              </a:rPr>
              <a:t>QR/OCR, парсинг полей,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79191"/>
            <a:ext cx="46634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Arial"/>
              </a:rPr>
              <a:t>tg/email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166360" cy="160020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22191"/>
            <a:ext cx="46634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rial"/>
              </a:rPr>
              <a:t>Участник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87952"/>
            <a:ext cx="46634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63E0FF"/>
                </a:solidFill>
                <a:latin typeface="Arial"/>
              </a:rPr>
              <a:t>Backend/MLOps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07992"/>
            <a:ext cx="46634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ABBD2"/>
                </a:solidFill>
                <a:latin typeface="Arial"/>
              </a:rPr>
              <a:t>Docker, Gradio,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28032"/>
            <a:ext cx="46634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Arial"/>
              </a:rPr>
              <a:t>tg/email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166360" cy="160020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822191"/>
            <a:ext cx="4663440" cy="29260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900" b="1">
                <a:solidFill>
                  <a:srgbClr val="F5F8FF"/>
                </a:solidFill>
                <a:latin typeface="Arial"/>
              </a:rPr>
              <a:t>Участник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187952"/>
            <a:ext cx="466344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300" b="1">
                <a:solidFill>
                  <a:srgbClr val="63E0FF"/>
                </a:solidFill>
                <a:latin typeface="Arial"/>
              </a:rPr>
              <a:t>Product/Analyst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07992"/>
            <a:ext cx="46634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AABBD2"/>
                </a:solidFill>
                <a:latin typeface="Arial"/>
              </a:rPr>
              <a:t>метрики, презентация, бизнес-эффект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28032"/>
            <a:ext cx="4663440" cy="219456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100" b="0">
                <a:solidFill>
                  <a:srgbClr val="FFD166"/>
                </a:solidFill>
                <a:latin typeface="Arial"/>
              </a:rPr>
              <a:t>tg/email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Постановка и критерий выигрыша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Одна строка CSV должна соответствовать одному уникальному ценнику на видео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011680" cy="96012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563624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00AAFF"/>
                </a:solidFill>
                <a:latin typeface="Arial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947672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ключевых колонок в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417320"/>
            <a:ext cx="2011680" cy="96012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81528" y="1563624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50DCA0"/>
                </a:solidFill>
                <a:latin typeface="Arial"/>
              </a:rPr>
              <a:t>&gt;=80%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1947672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порог успешной строки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417320"/>
            <a:ext cx="2011680" cy="96012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8" y="1563624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FFD166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1947672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видео: 4K, около 20 FPS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417320"/>
            <a:ext cx="2011680" cy="96012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7" y="1563624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FF5F69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7" y="1947672"/>
            <a:ext cx="17922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ручная разметка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88920"/>
            <a:ext cx="5166360" cy="301752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6324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Нужно детектировать ценники на полке, а не OCR всего кадра.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Максимальный балл дают распознанные product/price/barcode/QR/metadata.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Все должно работать локально: без облачных OCR/API.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Плюс: демо UI и готовность к edge/RKNN.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88920"/>
            <a:ext cx="5166360" cy="301752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6324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Стратегия победы: не один OCR, а каскад с несколькими источниками истины.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QR-код важнее OCR для цен и barcode.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Мультикадровое голосование исправляет блики, размытие и перекрытия.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YOLO нужен как основной detector; heuristics только safety net.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Анализ входных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Public set: 3 размеченных и 3 unlabeled видео, все 3840x2160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4206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1">
                <a:solidFill>
                  <a:srgbClr val="63E0FF"/>
                </a:solidFill>
                <a:latin typeface="Arial"/>
              </a:rPr>
              <a:t>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234440"/>
            <a:ext cx="14630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1">
                <a:solidFill>
                  <a:srgbClr val="63E0FF"/>
                </a:solidFill>
                <a:latin typeface="Arial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10972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1">
                <a:solidFill>
                  <a:srgbClr val="63E0FF"/>
                </a:solidFill>
                <a:latin typeface="Arial"/>
              </a:rPr>
              <a:t>labels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18488"/>
            <a:ext cx="4160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rial"/>
              </a:rPr>
              <a:t>25_12-20/25_12-20.mp4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618488"/>
            <a:ext cx="13716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42.04s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18488"/>
            <a:ext cx="10058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4160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rial"/>
              </a:rPr>
              <a:t>26_12-20/26_12-20.mp4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65960"/>
            <a:ext cx="13716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88.89s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965960"/>
            <a:ext cx="10058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313432"/>
            <a:ext cx="4160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rial"/>
              </a:rPr>
              <a:t>43_15/43_15.mp4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13432"/>
            <a:ext cx="13716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14.99s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313432"/>
            <a:ext cx="10058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660904"/>
            <a:ext cx="4160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rial"/>
              </a:rPr>
              <a:t>Unlabeled/25_12-20.mp4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660904"/>
            <a:ext cx="13716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43.33s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60904"/>
            <a:ext cx="10058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нет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008376"/>
            <a:ext cx="4160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rial"/>
              </a:rPr>
              <a:t>Unlabeled/26_12-20.mp4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008376"/>
            <a:ext cx="13716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31.69s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08376"/>
            <a:ext cx="10058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355848"/>
            <a:ext cx="41605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F5F8FF"/>
                </a:solidFill>
                <a:latin typeface="Arial"/>
              </a:rPr>
              <a:t>Unlabeled/26_2-10.mp4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355848"/>
            <a:ext cx="13716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30.65s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355848"/>
            <a:ext cx="100584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0">
                <a:solidFill>
                  <a:srgbClr val="AABBD2"/>
                </a:solidFill>
                <a:latin typeface="Arial"/>
              </a:rPr>
              <a:t>нет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234440"/>
            <a:ext cx="4023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36192"/>
            <a:ext cx="3611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8FF"/>
                </a:solidFill>
                <a:latin typeface="Arial"/>
              </a:defRPr>
            </a:pPr>
            <a:r>
              <a:t>Сценарии: остановки перед полкой и непрерывное движение.</a:t>
            </a:r>
          </a:p>
          <a:p>
            <a:pPr>
              <a:spcAft>
                <a:spcPts val="400"/>
              </a:spcAft>
              <a:defRPr sz="1400">
                <a:solidFill>
                  <a:srgbClr val="F5F8FF"/>
                </a:solidFill>
                <a:latin typeface="Arial"/>
              </a:defRPr>
            </a:pPr>
            <a:r>
              <a:t>Проблемы: блики, стекло, тени, наклон, частичные перекрытия.</a:t>
            </a:r>
          </a:p>
          <a:p>
            <a:pPr>
              <a:spcAft>
                <a:spcPts val="400"/>
              </a:spcAft>
              <a:defRPr sz="1400">
                <a:solidFill>
                  <a:srgbClr val="F5F8FF"/>
                </a:solidFill>
                <a:latin typeface="Arial"/>
              </a:defRPr>
            </a:pPr>
            <a:r>
              <a:t>Ценники малы относительно 4K-кадра: crop enhancement обязателен.</a:t>
            </a:r>
          </a:p>
          <a:p>
            <a:pPr>
              <a:spcAft>
                <a:spcPts val="400"/>
              </a:spcAft>
              <a:defRPr sz="1400">
                <a:solidFill>
                  <a:srgbClr val="F5F8FF"/>
                </a:solidFill>
                <a:latin typeface="Arial"/>
              </a:defRPr>
            </a:pPr>
            <a:r>
              <a:t>В public CSV найдена legacy-опечатка wholesale_level_1_coun - нормализуем.</a:t>
            </a:r>
          </a:p>
        </p:txBody>
      </p:sp>
      <p:pic>
        <p:nvPicPr>
          <p:cNvPr id="28" name="Picture 27" descr="public_labeled_contact_she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88620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Архитектура 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Локальный воспроизводимый пайплайн без внешних онлайн-сервисов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49047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Video sampler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56231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1-2 FPS + sharpness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45919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49047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Detector ensemble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856231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YOLO + QR seed + color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645919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49047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Crop enhancer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856231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upscale + CLAHE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645919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2588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49047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QR/barcode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1856231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zxing/pyzbar/OpenCV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59568" y="2404872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42900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59359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3959352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PaddleOCR/Tesseract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749039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42900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359359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Parser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3959352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prices, SKU, 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3749039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42900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359359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Temporal fusion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959352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track + vote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749039"/>
            <a:ext cx="27432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400" b="1">
                <a:solidFill>
                  <a:srgbClr val="00AAFF"/>
                </a:solidFill>
                <a:latin typeface="Arial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429000"/>
            <a:ext cx="251460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3728" y="3593592"/>
            <a:ext cx="22860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500" b="1">
                <a:solidFill>
                  <a:srgbClr val="F5F8FF"/>
                </a:solidFill>
                <a:latin typeface="Arial"/>
              </a:rPr>
              <a:t>CSV/UI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3959352"/>
            <a:ext cx="228600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50" b="0">
                <a:solidFill>
                  <a:srgbClr val="63E0FF"/>
                </a:solidFill>
                <a:latin typeface="Arial"/>
              </a:rPr>
              <a:t>download result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532120"/>
            <a:ext cx="10332720" cy="5943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669280"/>
            <a:ext cx="996696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rial"/>
              </a:rPr>
              <a:t>Ключевой принцип: каждый ценник читается несколько раз на разных кадрах, затем поля объединяются по QR/barcode/product+price.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Детекция ценников: путь к Top-1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Модель легкая, обучается автоматически и экспортируется на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1. CSV public -&gt; YOLO labels на кадрах с timestamp.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2. Template tracking автоматически размножает bbox на соседние кадры.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3. Train YOLO11n/YOLOv8n, imgsz=1280, агрессивные augmentations.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4. Псевдоразметка unlabeled: берем high confidence + QR decoded.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5. Экспорт ONNX/OpenVINO/RKNN для CPU/Rockchip.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166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6634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63E0FF"/>
                </a:solidFill>
                <a:latin typeface="Arial"/>
              </a:rPr>
              <a:t>Команды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663440" cy="1234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Consolas"/>
              </a:rPr>
              <a:t>python scripts/build_yolo_dataset.py --propagate 10
python scripts/train_detector.py --model yolo11n.pt --epochs 150 --imgsz 1280
python scripts/export_edge.py --format rknn --name rk3588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474720"/>
            <a:ext cx="4617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AABBD2"/>
                </a:solidFill>
                <a:latin typeface="Arial"/>
              </a:defRPr>
            </a:pPr>
            <a:r>
              <a:t>Почему не только эвристика: цветовые пороги дают fallback, но скрытые шаблоны/фон требуют обученного detector.</a:t>
            </a:r>
          </a:p>
          <a:p>
            <a:pPr>
              <a:spcAft>
                <a:spcPts val="400"/>
              </a:spcAft>
              <a:defRPr sz="1350">
                <a:solidFill>
                  <a:srgbClr val="AABBD2"/>
                </a:solidFill>
                <a:latin typeface="Arial"/>
              </a:defRPr>
            </a:pPr>
            <a:r>
              <a:t>Почему не тяжелая VLM: ограниченные ресурсы и локальный контур.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Распознавание полей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QR - источник истины, OCR - восстановление названия и полей вне QR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2926080" cy="91440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35024"/>
            <a:ext cx="27066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50DCA0"/>
                </a:solidFill>
                <a:latin typeface="Arial"/>
              </a:rPr>
              <a:t>barcode/b, p1-p4, aP/aC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19072"/>
            <a:ext cx="27066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QR aliases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188720"/>
            <a:ext cx="2926080" cy="91440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335024"/>
            <a:ext cx="27066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00AAFF"/>
                </a:solidFill>
                <a:latin typeface="Arial"/>
              </a:rPr>
              <a:t>PaddleOCR + Tesseract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1719072"/>
            <a:ext cx="27066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OCR engines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188720"/>
            <a:ext cx="2926080" cy="91440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6328" y="1335024"/>
            <a:ext cx="27066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FFD166"/>
                </a:solidFill>
                <a:latin typeface="Arial"/>
              </a:rPr>
              <a:t>EAN-13 + regex + layout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1719072"/>
            <a:ext cx="270662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Post-processing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14600"/>
            <a:ext cx="5166360" cy="3337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QR decoding cascade: zxing-cpp -&gt; pyzbar -&gt; OpenCV.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Если QR прочитан, заполняем price1_qr-price4_qr, action fields и barcode.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Если поля QR отсутствуют в payload - пишем `нет`; если QR не распознан - оставляем пусто.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514600"/>
            <a:ext cx="5166360" cy="3337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83464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OCR crop: upscale, CLAHE, unsharp mask.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Парсер: цены, скидка, SKU, print_datetime, zone code, special_symbols.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Color classifier по HSV: red/yellow/green/white/blue.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Temporal voting выбирает лучшее значение из нескольких кадров.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Готовый 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Gradio UI + CLI + Docker, результат скачивается как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UI: upload MP4 -&gt; режим обработки -&gt; preview table -&gt; download CSV.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CLI: scripts/infer_video.py для batch-инференса.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Docker: один образ для локального сервера или HF Spaces.</a:t>
            </a:r>
          </a:p>
          <a:p>
            <a:pPr>
              <a:spcAft>
                <a:spcPts val="4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Debug: crops и JSON по кадрам для быстрого анализа ошибок.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166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6634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600" b="1">
                <a:solidFill>
                  <a:srgbClr val="63E0FF"/>
                </a:solidFill>
                <a:latin typeface="Arial"/>
              </a:rPr>
              <a:t>Запуск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663440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00" b="0">
                <a:solidFill>
                  <a:srgbClr val="F5F8FF"/>
                </a:solidFill>
                <a:latin typeface="Consolas"/>
              </a:rPr>
              <a:t>pip install -r requirements.txt
python app.py
# или
python scripts/infer_video.py video.mp4 --weights models/price_tag_yolo.pt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AABBD2"/>
                </a:solidFill>
                <a:latin typeface="Arial"/>
              </a:defRPr>
            </a:pPr>
            <a:r>
              <a:t>Публичный деплой: Hugging Face Spaces Docker / Render / Fly.io.</a:t>
            </a:r>
          </a:p>
          <a:p>
            <a:pPr>
              <a:spcAft>
                <a:spcPts val="400"/>
              </a:spcAft>
              <a:defRPr sz="1400">
                <a:solidFill>
                  <a:srgbClr val="AABBD2"/>
                </a:solidFill>
                <a:latin typeface="Arial"/>
              </a:defRPr>
            </a:pPr>
            <a:r>
              <a:t>Порт UI: 7860, без авторизации.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Выходной датасет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Фиксированная схема из 29 колонок, одна строка - один уникальный ценник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filename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34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product_name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80" y="1234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price_default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234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price_card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34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barcode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43_15.mp4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618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Мед ПОТАПЫЧ...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618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415.79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18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316.99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618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4603552017456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discount_amount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377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id_sku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377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print_datetime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377440"/>
            <a:ext cx="210312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frame_timestamp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761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-23%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761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370204501518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761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04.01.2026 2:00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61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761488"/>
            <a:ext cx="210312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2472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52044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x_min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3160" y="352044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y_min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52044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qr_code_barcode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52044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price1_qr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3520440"/>
            <a:ext cx="1828800" cy="256032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50" b="1">
                <a:solidFill>
                  <a:srgbClr val="63E0FF"/>
                </a:solidFill>
                <a:latin typeface="Arial"/>
              </a:rPr>
              <a:t>price4_qr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904487"/>
            <a:ext cx="1828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3194.5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3904487"/>
            <a:ext cx="1828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1722.9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3904487"/>
            <a:ext cx="1828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4603552017456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904487"/>
            <a:ext cx="1828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415.79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904487"/>
            <a:ext cx="1828800" cy="329184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000" b="0">
                <a:solidFill>
                  <a:srgbClr val="F5F8FF"/>
                </a:solidFill>
                <a:latin typeface="Arial"/>
              </a:rPr>
              <a:t>316.99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29200"/>
            <a:ext cx="10789920" cy="77724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66944"/>
            <a:ext cx="1028700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400" b="0">
                <a:solidFill>
                  <a:srgbClr val="F5F8FF"/>
                </a:solidFill>
                <a:latin typeface="Arial"/>
              </a:rPr>
              <a:t>Правила заполнения: отсутствует на ценнике -&gt; `нет`; не распознано -&gt; пусто. QR-поля нормализуются по aliases из задания.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Ограничения и масштабирование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Что может сломаться и как довести до промышленного уровня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166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46634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FF5F69"/>
                </a:solidFill>
                <a:latin typeface="Arial"/>
              </a:rPr>
              <a:t>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Блики/стекло закрывают QR и цену.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Очень мелкие ценники на дальнем плане.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Новые шаблоны цветов и A3/A4 форматов.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OCR product_name без SKU master-data может ошибаться.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Heuristic fallback без YOLO не равен production-качеству.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234440"/>
            <a:ext cx="5166360" cy="448056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36192"/>
            <a:ext cx="46634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700" b="1">
                <a:solidFill>
                  <a:srgbClr val="50DCA0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Self-training на unlabeled видео и регулярный retrain.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SKU/barcode master-data для восстановления названий.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ONNX/OpenVINO на CPU, RKNN INT8 на Rockchip.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Мониторинг confidence, выбор кадров с остановками робота.</a:t>
            </a:r>
          </a:p>
          <a:p>
            <a:pPr>
              <a:spcAft>
                <a:spcPts val="400"/>
              </a:spcAft>
              <a:defRPr sz="1450">
                <a:solidFill>
                  <a:srgbClr val="F5F8FF"/>
                </a:solidFill>
                <a:latin typeface="Arial"/>
              </a:defRPr>
            </a:pPr>
            <a:r>
              <a:t>Human-in-the-loop только для QA после соревнования, не для ручной разметки кейса.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Жесткая самооценка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Текущее состояние артефакта и план до победного уровня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83464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72184"/>
            <a:ext cx="261518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FFD166"/>
                </a:solidFill>
                <a:latin typeface="Arial"/>
              </a:rPr>
              <a:t>84/100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261518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текущий артефакт без весов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325880"/>
            <a:ext cx="283464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472184"/>
            <a:ext cx="261518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50DCA0"/>
                </a:solidFill>
                <a:latin typeface="Arial"/>
              </a:rPr>
              <a:t>93-96/100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1856231"/>
            <a:ext cx="261518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после обучения YOLO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0" y="1325880"/>
            <a:ext cx="2834640" cy="1051560"/>
          </a:xfrm>
          <a:prstGeom prst="roundRect">
            <a:avLst/>
          </a:prstGeom>
          <a:solidFill>
            <a:srgbClr val="113056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04888" y="1472184"/>
            <a:ext cx="261518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2300" b="1">
                <a:solidFill>
                  <a:srgbClr val="00AAFF"/>
                </a:solidFill>
                <a:latin typeface="Arial"/>
              </a:rPr>
              <a:t>98+/100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1856231"/>
            <a:ext cx="2615184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080" b="0">
                <a:solidFill>
                  <a:srgbClr val="AABBD2"/>
                </a:solidFill>
                <a:latin typeface="Arial"/>
              </a:rPr>
              <a:t>с SKU master-data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88920"/>
            <a:ext cx="10332720" cy="278892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63240"/>
            <a:ext cx="9784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Критика: без обученных весов fallback дает много false positives и не должен быть финальным сабмитом.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Сильная часть: архитектура, локальность, QR-first стратегия, temporal fusion, воспроизводимый train/eval/export контур.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Что обязательно сделать перед сдачей: обучить YOLO, включить PaddleOCR/zxing-cpp, прогнать public evaluation, задеплоить Docker Space.</a:t>
            </a:r>
          </a:p>
          <a:p>
            <a:pPr>
              <a:spcAft>
                <a:spcPts val="500"/>
              </a:spcAft>
              <a:defRPr sz="1500">
                <a:solidFill>
                  <a:srgbClr val="F5F8FF"/>
                </a:solidFill>
                <a:latin typeface="Arial"/>
              </a:defRPr>
            </a:pPr>
            <a:r>
              <a:t>Победный апгрейд: self-training на unlabeled + barcode/SKU справочник для product_name.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2800" b="1">
                <a:solidFill>
                  <a:srgbClr val="F5F8FF"/>
                </a:solidFill>
                <a:latin typeface="Arial"/>
              </a:rPr>
              <a:t>Репозиторий и 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/>
            <a:r>
              <a:rPr sz="1250" b="0">
                <a:solidFill>
                  <a:srgbClr val="AABBD2"/>
                </a:solidFill>
                <a:latin typeface="Arial"/>
              </a:rPr>
              <a:t>Финальный чек-лист перед отправкой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332720" cy="4389120"/>
          </a:xfrm>
          <a:prstGeom prst="roundRect">
            <a:avLst/>
          </a:prstGeom>
          <a:solidFill>
            <a:srgbClr val="0D2340"/>
          </a:solidFill>
          <a:ln w="12700">
            <a:solidFill>
              <a:srgbClr val="1C5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9875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  <a:latin typeface="Arial"/>
              </a:defRPr>
            </a:pPr>
            <a:r>
              <a:t>GitHub: загрузить содержимое архива `lenta_shelf_ai_solution.zip` в публичный репозиторий.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  <a:latin typeface="Arial"/>
              </a:defRPr>
            </a:pPr>
            <a:r>
              <a:t>README уже содержит архитектуру и локальную инструкцию воспроизведения.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  <a:latin typeface="Arial"/>
              </a:defRPr>
            </a:pPr>
            <a:r>
              <a:t>Demo: создать Hugging Face Space / Render сервис из Dockerfile и вставить публичный URL.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  <a:latin typeface="Arial"/>
              </a:defRPr>
            </a:pPr>
            <a:r>
              <a:t>Файлы для жюри: code repo, README, deployed UI, presentation, optional trained weights.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  <a:latin typeface="Arial"/>
              </a:defRPr>
            </a:pPr>
            <a:r>
              <a:t>Запуск проверки: `python scripts/evaluate_on_public.py --data-dir data/Данные`.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989320"/>
            <a:ext cx="103327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ctr"/>
            <a:r>
              <a:rPr sz="1800" b="1">
                <a:solidFill>
                  <a:srgbClr val="63E0FF"/>
                </a:solidFill>
                <a:latin typeface="Arial"/>
              </a:rPr>
              <a:t>Lenta Shelf AI: shelf under control, data under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